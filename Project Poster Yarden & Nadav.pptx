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8">
          <p15:clr>
            <a:srgbClr val="A4A3A4"/>
          </p15:clr>
        </p15:guide>
        <p15:guide id="2" pos="79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6FB6F-6215-4053-8CF0-8867C99373F8}" v="45" dt="2026-02-24T19:54:48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88" autoAdjust="0"/>
  </p:normalViewPr>
  <p:slideViewPr>
    <p:cSldViewPr snapToGrid="0">
      <p:cViewPr varScale="1">
        <p:scale>
          <a:sx n="29" d="100"/>
          <a:sy n="29" d="100"/>
        </p:scale>
        <p:origin x="4188" y="180"/>
      </p:cViewPr>
      <p:guideLst>
        <p:guide orient="horz" pos="11338"/>
        <p:guide pos="79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רדן לוי" userId="8c4d395b88d785f4" providerId="LiveId" clId="{B0EEBFC6-D0D0-4698-B291-1A47ED4B5638}"/>
    <pc:docChg chg="undo redo custSel modSld">
      <pc:chgData name="ירדן לוי" userId="8c4d395b88d785f4" providerId="LiveId" clId="{B0EEBFC6-D0D0-4698-B291-1A47ED4B5638}" dt="2026-02-24T19:56:33.996" v="154" actId="20577"/>
      <pc:docMkLst>
        <pc:docMk/>
      </pc:docMkLst>
      <pc:sldChg chg="addSp delSp modSp mod">
        <pc:chgData name="ירדן לוי" userId="8c4d395b88d785f4" providerId="LiveId" clId="{B0EEBFC6-D0D0-4698-B291-1A47ED4B5638}" dt="2026-02-24T19:56:33.996" v="154" actId="20577"/>
        <pc:sldMkLst>
          <pc:docMk/>
          <pc:sldMk cId="1360458196" sldId="256"/>
        </pc:sldMkLst>
        <pc:graphicFrameChg chg="del mod modGraphic">
          <ac:chgData name="ירדן לוי" userId="8c4d395b88d785f4" providerId="LiveId" clId="{B0EEBFC6-D0D0-4698-B291-1A47ED4B5638}" dt="2026-02-24T19:55:13.411" v="153" actId="21"/>
          <ac:graphicFrameMkLst>
            <pc:docMk/>
            <pc:sldMk cId="1360458196" sldId="256"/>
            <ac:graphicFrameMk id="3" creationId="{5E55D3C5-B04D-41A5-9B17-C157FCAEF508}"/>
          </ac:graphicFrameMkLst>
        </pc:graphicFrameChg>
        <pc:graphicFrameChg chg="add del mod modGraphic">
          <ac:chgData name="ירדן לוי" userId="8c4d395b88d785f4" providerId="LiveId" clId="{B0EEBFC6-D0D0-4698-B291-1A47ED4B5638}" dt="2026-02-24T19:40:35.557" v="9"/>
          <ac:graphicFrameMkLst>
            <pc:docMk/>
            <pc:sldMk cId="1360458196" sldId="256"/>
            <ac:graphicFrameMk id="4" creationId="{CEECDE98-386A-0E17-BCEC-84C24B7C7D20}"/>
          </ac:graphicFrameMkLst>
        </pc:graphicFrameChg>
        <pc:graphicFrameChg chg="add mod">
          <ac:chgData name="ירדן לוי" userId="8c4d395b88d785f4" providerId="LiveId" clId="{B0EEBFC6-D0D0-4698-B291-1A47ED4B5638}" dt="2026-02-24T19:45:56.638" v="55"/>
          <ac:graphicFrameMkLst>
            <pc:docMk/>
            <pc:sldMk cId="1360458196" sldId="256"/>
            <ac:graphicFrameMk id="5" creationId="{E587F7D2-9BD0-E137-A9A7-C180E9076072}"/>
          </ac:graphicFrameMkLst>
        </pc:graphicFrameChg>
        <pc:graphicFrameChg chg="add mod">
          <ac:chgData name="ירדן לוי" userId="8c4d395b88d785f4" providerId="LiveId" clId="{B0EEBFC6-D0D0-4698-B291-1A47ED4B5638}" dt="2026-02-24T19:45:54.125" v="54"/>
          <ac:graphicFrameMkLst>
            <pc:docMk/>
            <pc:sldMk cId="1360458196" sldId="256"/>
            <ac:graphicFrameMk id="6" creationId="{FB38C829-4A02-5A37-AB4F-F88BFC701498}"/>
          </ac:graphicFrameMkLst>
        </pc:graphicFrameChg>
        <pc:graphicFrameChg chg="add mod modGraphic">
          <ac:chgData name="ירדן לוי" userId="8c4d395b88d785f4" providerId="LiveId" clId="{B0EEBFC6-D0D0-4698-B291-1A47ED4B5638}" dt="2026-02-24T19:53:30.797" v="148" actId="14838"/>
          <ac:graphicFrameMkLst>
            <pc:docMk/>
            <pc:sldMk cId="1360458196" sldId="256"/>
            <ac:graphicFrameMk id="8" creationId="{BEDF5D4B-6860-4A7E-6C10-DDD0009DE380}"/>
          </ac:graphicFrameMkLst>
        </pc:graphicFrameChg>
        <pc:graphicFrameChg chg="add mod modGraphic">
          <ac:chgData name="ירדן לוי" userId="8c4d395b88d785f4" providerId="LiveId" clId="{B0EEBFC6-D0D0-4698-B291-1A47ED4B5638}" dt="2026-02-24T19:56:33.996" v="154" actId="20577"/>
          <ac:graphicFrameMkLst>
            <pc:docMk/>
            <pc:sldMk cId="1360458196" sldId="256"/>
            <ac:graphicFrameMk id="9" creationId="{1FFBDBB9-91E7-7E31-921B-D870CD606993}"/>
          </ac:graphicFrameMkLst>
        </pc:graphicFrameChg>
        <pc:graphicFrameChg chg="add mod modGraphic">
          <ac:chgData name="ירדן לוי" userId="8c4d395b88d785f4" providerId="LiveId" clId="{B0EEBFC6-D0D0-4698-B291-1A47ED4B5638}" dt="2026-02-24T19:54:48.040" v="152" actId="572"/>
          <ac:graphicFrameMkLst>
            <pc:docMk/>
            <pc:sldMk cId="1360458196" sldId="256"/>
            <ac:graphicFrameMk id="13" creationId="{FD96092F-E820-2978-CA5D-B241ADFC6154}"/>
          </ac:graphicFrameMkLst>
        </pc:graphicFrameChg>
        <pc:picChg chg="mod">
          <ac:chgData name="ירדן לוי" userId="8c4d395b88d785f4" providerId="LiveId" clId="{B0EEBFC6-D0D0-4698-B291-1A47ED4B5638}" dt="2026-02-24T19:50:48.042" v="126" actId="14100"/>
          <ac:picMkLst>
            <pc:docMk/>
            <pc:sldMk cId="1360458196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pPr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133" y="359124"/>
            <a:ext cx="4020838" cy="416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12816559" y="14992884"/>
            <a:ext cx="10419822" cy="89870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Results &amp; Visualization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200" i="1" dirty="0">
                <a:solidFill>
                  <a:schemeClr val="bg1"/>
                </a:solidFill>
              </a:rPr>
              <a:t>Results Summary: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Model Accuracy: 100%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Total Emails Processed: 100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Phishing Detected: 37 (37%)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Legitimate Emails: 63 (63%)</a:t>
            </a:r>
          </a:p>
          <a:p>
            <a:endParaRPr lang="en-US" sz="3200" i="1" dirty="0">
              <a:solidFill>
                <a:schemeClr val="bg1"/>
              </a:solidFill>
            </a:endParaRPr>
          </a:p>
          <a:p>
            <a:r>
              <a:rPr lang="en-US" sz="3200" i="1" dirty="0">
                <a:solidFill>
                  <a:schemeClr val="bg1"/>
                </a:solidFill>
              </a:rPr>
              <a:t>MITRE ATT&amp;CK Techniques Detected: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T1598.003 - Phishing for Information: 18 detections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T1566 - Generic Phishing: 16 detections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T1566.002 - </a:t>
            </a:r>
            <a:r>
              <a:rPr lang="en-US" sz="3200" i="1" dirty="0" err="1">
                <a:solidFill>
                  <a:schemeClr val="bg1"/>
                </a:solidFill>
              </a:rPr>
              <a:t>Spearphishing</a:t>
            </a:r>
            <a:r>
              <a:rPr lang="en-US" sz="3200" i="1" dirty="0">
                <a:solidFill>
                  <a:schemeClr val="bg1"/>
                </a:solidFill>
              </a:rPr>
              <a:t> Link: 3 detections</a:t>
            </a:r>
          </a:p>
          <a:p>
            <a:endParaRPr lang="en-US" sz="3200" i="1" dirty="0">
              <a:solidFill>
                <a:schemeClr val="bg1"/>
              </a:solidFill>
            </a:endParaRPr>
          </a:p>
          <a:p>
            <a:r>
              <a:rPr lang="en-US" sz="3200" i="1" dirty="0">
                <a:solidFill>
                  <a:schemeClr val="bg1"/>
                </a:solidFill>
              </a:rPr>
              <a:t>Threat Severity Distribution: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None (Legitimate): 63 emails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Medium (Generic Phishing): 16 emails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High (</a:t>
            </a:r>
            <a:r>
              <a:rPr lang="en-US" sz="3200" i="1" dirty="0" err="1">
                <a:solidFill>
                  <a:schemeClr val="bg1"/>
                </a:solidFill>
              </a:rPr>
              <a:t>Spearphishing</a:t>
            </a:r>
            <a:r>
              <a:rPr lang="en-US" sz="3200" i="1" dirty="0">
                <a:solidFill>
                  <a:schemeClr val="bg1"/>
                </a:solidFill>
              </a:rPr>
              <a:t>): 3 emails</a:t>
            </a:r>
          </a:p>
          <a:p>
            <a:r>
              <a:rPr lang="en-US" sz="3200" i="1" dirty="0">
                <a:solidFill>
                  <a:schemeClr val="bg1"/>
                </a:solidFill>
              </a:rPr>
              <a:t>- Critical (Credential Harvesting): 18 emails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925363" y="17379286"/>
            <a:ext cx="8855591" cy="89870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Conclusions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Achieved Goals: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Successfully built event-driven architecture with Apache Kafka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Achieved 100% classification accuracy on test dataset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Integrated MITRE ATT&amp;CK framework for threat mapping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Created comprehensive visualization dashboard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Comparison to Initial Targets: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Target: Build real-time pipeline → Achieved ✓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Target: ML model with &gt;90% accuracy → Achieved 100% ✓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Target: MITRE ATT&amp;CK integration → Achieved ✓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Target: Visualization dashboard → Achieved (5 charts) 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12816559" y="7170359"/>
            <a:ext cx="10401299" cy="70173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Architecture &amp; Methodology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The system implements an Event-Driven Architecture: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Data Flow Pipeline: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Synthetic Data (LLM) → Email Dataset → Apache Kafka → ML Classifier →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Results → MITRE ATT&amp;CK Mapping → Dashboard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Machine Learning Model: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 Vectorization: TF-IDF (1,000 features, unigrams + bigrams)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 Algorithm: Logistic Regression with balanced class weights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 Key Phishing Indicators: urgency words, credential requests, suspicious URLs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818147" y="7132454"/>
            <a:ext cx="10401299" cy="94795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Introduction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Phishing attacks are among the most prevalent cybersecurity threats, </a:t>
            </a:r>
          </a:p>
          <a:p>
            <a:r>
              <a:rPr lang="en-US" sz="3200" dirty="0">
                <a:solidFill>
                  <a:schemeClr val="bg1"/>
                </a:solidFill>
              </a:rPr>
              <a:t>responsible for over 90% of data breaches worldwide. Attackers impersonate </a:t>
            </a:r>
          </a:p>
          <a:p>
            <a:r>
              <a:rPr lang="en-US" sz="3200" dirty="0">
                <a:solidFill>
                  <a:schemeClr val="bg1"/>
                </a:solidFill>
              </a:rPr>
              <a:t>legitimate entities via email to steal sensitive information.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Project Objectives: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Build a real-time processing pipeline for phishing detection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Develop a machine learning model for email classification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Map detected threats to the MITRE ATT&amp;CK framework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Create a visualization dashboard for analysis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Technology Stack: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Apache Kafka 3.7.0 - Message streaming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Python 3.11 with scikit-learn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Jaeger - Distributed tracing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Docker Compose - Containerization</a:t>
            </a:r>
          </a:p>
        </p:txBody>
      </p:sp>
      <p:pic>
        <p:nvPicPr>
          <p:cNvPr id="7" name="תמונה 6" descr="תמונה שמכילה טקסט, צילום מסך, תרשים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0CCE5B3-C2B5-F887-CF30-34B989CE4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932" y="24538335"/>
            <a:ext cx="14739039" cy="11055531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196D25A0-D7C6-0836-6F5B-E38B5A760B0E}"/>
              </a:ext>
            </a:extLst>
          </p:cNvPr>
          <p:cNvSpPr txBox="1"/>
          <p:nvPr/>
        </p:nvSpPr>
        <p:spPr>
          <a:xfrm>
            <a:off x="925363" y="27133676"/>
            <a:ext cx="9003185" cy="75097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Discussion &amp; Future Work</a:t>
            </a:r>
            <a:endParaRPr lang="he-IL" sz="66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Key Achievements: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Demonstrated feasibility of ML-based phishing detection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Real-time processing with sub-second latency</a:t>
            </a:r>
          </a:p>
          <a:p>
            <a:r>
              <a:rPr lang="en-US" sz="3200" dirty="0">
                <a:solidFill>
                  <a:schemeClr val="bg1"/>
                </a:solidFill>
              </a:rPr>
              <a:t>✓ Comprehensive threat classification system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Future Development: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NVIDIA Morpheus integration for GPU-accelerated inference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Deep Learning models (BERT, Transformers)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Real-time alerting and SIEM integration</a:t>
            </a:r>
          </a:p>
          <a:p>
            <a:r>
              <a:rPr lang="en-US" sz="3200" dirty="0">
                <a:solidFill>
                  <a:schemeClr val="bg1"/>
                </a:solidFill>
              </a:rPr>
              <a:t>- Expansion to malware and BEC attack detection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BEDF5D4B-6860-4A7E-6C10-DDD0009DE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793882"/>
              </p:ext>
            </p:extLst>
          </p:nvPr>
        </p:nvGraphicFramePr>
        <p:xfrm>
          <a:off x="5247359" y="359124"/>
          <a:ext cx="15138399" cy="5968111"/>
        </p:xfrm>
        <a:graphic>
          <a:graphicData uri="http://schemas.openxmlformats.org/drawingml/2006/table">
            <a:tbl>
              <a:tblPr/>
              <a:tblGrid>
                <a:gridCol w="15138399">
                  <a:extLst>
                    <a:ext uri="{9D8B030D-6E8A-4147-A177-3AD203B41FA5}">
                      <a16:colId xmlns:a16="http://schemas.microsoft.com/office/drawing/2014/main" val="2070544922"/>
                    </a:ext>
                  </a:extLst>
                </a:gridCol>
              </a:tblGrid>
              <a:tr h="53644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72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Streaming Phishing Email Detection Pipeline</a:t>
                      </a:r>
                      <a:endParaRPr lang="he-IL" sz="72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Yarden levy &amp; Nadav Shapira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he-IL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סמסטר א' תשפ"ו</a:t>
                      </a:r>
                      <a:endParaRPr lang="en-US" sz="48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Fall semester 3</a:t>
                      </a:r>
                      <a:r>
                        <a:rPr lang="en-US" sz="4800" b="1" cap="none" spc="50" baseline="3000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rd</a:t>
                      </a: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 year</a:t>
                      </a:r>
                      <a:endParaRPr lang="he-IL" sz="48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endParaRPr lang="en-IL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12700" cmpd="sng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100114"/>
                  </a:ext>
                </a:extLst>
              </a:tr>
            </a:tbl>
          </a:graphicData>
        </a:graphic>
      </p:graphicFrame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1FFBDBB9-91E7-7E31-921B-D870CD606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13351"/>
              </p:ext>
            </p:extLst>
          </p:nvPr>
        </p:nvGraphicFramePr>
        <p:xfrm>
          <a:off x="65759" y="359124"/>
          <a:ext cx="5181600" cy="6017133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3081777658"/>
                    </a:ext>
                  </a:extLst>
                </a:gridCol>
              </a:tblGrid>
              <a:tr h="5940076">
                <a:tc>
                  <a:txBody>
                    <a:bodyPr/>
                    <a:lstStyle/>
                    <a:p>
                      <a:endParaRPr lang="en-US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endParaRPr lang="en-US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Dr. Andrei </a:t>
                      </a:r>
                      <a:r>
                        <a:rPr lang="en-US" sz="4800" b="1" cap="none" spc="50" dirty="0" err="1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kozukhov</a:t>
                      </a:r>
                      <a:endParaRPr lang="en-US" sz="48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&amp;</a:t>
                      </a:r>
                    </a:p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Viacheslav </a:t>
                      </a:r>
                    </a:p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cap="none" spc="50" dirty="0" err="1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nefedov</a:t>
                      </a:r>
                      <a:endParaRPr lang="en-US" sz="48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  <a:p>
                      <a:endParaRPr lang="en-IL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12700" cmpd="sng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492368"/>
                  </a:ext>
                </a:extLst>
              </a:tr>
            </a:tbl>
          </a:graphicData>
        </a:graphic>
      </p:graphicFrame>
      <p:graphicFrame>
        <p:nvGraphicFramePr>
          <p:cNvPr id="13" name="טבלה 12">
            <a:extLst>
              <a:ext uri="{FF2B5EF4-FFF2-40B4-BE49-F238E27FC236}">
                <a16:creationId xmlns:a16="http://schemas.microsoft.com/office/drawing/2014/main" id="{FD96092F-E820-2978-CA5D-B241ADFC6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723096"/>
              </p:ext>
            </p:extLst>
          </p:nvPr>
        </p:nvGraphicFramePr>
        <p:xfrm>
          <a:off x="65759" y="359125"/>
          <a:ext cx="5181600" cy="131064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4213468391"/>
                    </a:ext>
                  </a:extLst>
                </a:gridCol>
              </a:tblGrid>
              <a:tr h="569526">
                <a:tc>
                  <a:txBody>
                    <a:bodyPr/>
                    <a:lstStyle/>
                    <a:p>
                      <a:pPr marL="0" marR="0" lvl="0" indent="0" algn="l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AI-Driven</a:t>
                      </a:r>
                      <a:r>
                        <a:rPr lang="en-US" sz="40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 </a:t>
                      </a:r>
                      <a:r>
                        <a:rPr lang="en-US" sz="4000" b="1" cap="none" spc="50" dirty="0">
                          <a:ln w="0"/>
                          <a:solidFill>
                            <a:schemeClr val="bg2"/>
                          </a:solidFill>
                          <a:effectLst>
                            <a:glow rad="228600">
                              <a:schemeClr val="accent1">
                                <a:satMod val="175000"/>
                                <a:alpha val="40000"/>
                              </a:schemeClr>
                            </a:glow>
                            <a:innerShdw blurRad="63500" dist="50800" dir="13500000">
                              <a:srgbClr val="000000">
                                <a:alpha val="50000"/>
                              </a:srgbClr>
                            </a:innerShdw>
                          </a:effectLst>
                        </a:rPr>
                        <a:t>Cybersecurity</a:t>
                      </a:r>
                      <a:endParaRPr lang="en-GB" sz="4000" b="1" cap="none" spc="50" dirty="0">
                        <a:ln w="0"/>
                        <a:solidFill>
                          <a:schemeClr val="bg2"/>
                        </a:solidFill>
                        <a:effectLst>
                          <a:glow rad="228600">
                            <a:schemeClr val="accent1">
                              <a:satMod val="175000"/>
                              <a:alpha val="40000"/>
                            </a:schemeClr>
                          </a:glow>
                          <a:innerShdw blurRad="63500" dist="50800" dir="13500000">
                            <a:srgbClr val="000000">
                              <a:alpha val="50000"/>
                            </a:srgbClr>
                          </a:innerShdw>
                        </a:effectLst>
                      </a:endParaRPr>
                    </a:p>
                  </a:txBody>
                  <a:tcPr>
                    <a:lnL w="12700" cmpd="sng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solidFill>
                        <a:schemeClr val="accent1"/>
                      </a:solidFill>
                      <a:prstDash val="solid"/>
                    </a:lnR>
                    <a:lnT w="12700" cmpd="sng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solidFill>
                        <a:schemeClr val="accent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38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4640</TotalTime>
  <Words>445</Words>
  <Application>Microsoft Office PowerPoint</Application>
  <PresentationFormat>מותאם אישית</PresentationFormat>
  <Paragraphs>78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ירדן לוי</cp:lastModifiedBy>
  <cp:revision>54</cp:revision>
  <dcterms:created xsi:type="dcterms:W3CDTF">2019-01-27T10:54:29Z</dcterms:created>
  <dcterms:modified xsi:type="dcterms:W3CDTF">2026-02-24T19:56:44Z</dcterms:modified>
</cp:coreProperties>
</file>